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6F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研究核心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909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流行語為什麼會紅？又為什麼會退燒、變成死語？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67335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流行語的生命週期不只和詞語本身有關，也和來源、語境、二創能力、社群規範與社會環境有關。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67712"/>
            <a:ext cx="10927080" cy="0"/>
          </a:xfrm>
          <a:prstGeom prst="line">
            <a:avLst/>
          </a:prstGeom>
          <a:noFill/>
          <a:ln w="13335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606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本報告不是做流行語字典，而是看流行語如何經歷：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3529584"/>
            <a:ext cx="969264" cy="658368"/>
          </a:xfrm>
          <a:prstGeom prst="roundRect">
            <a:avLst>
              <a:gd name="adj" fmla="val 11111"/>
            </a:avLst>
          </a:prstGeom>
          <a:solidFill>
            <a:srgbClr val="E7F2F1"/>
          </a:solidFill>
          <a:ln w="12700">
            <a:solidFill>
              <a:srgbClr val="BFD9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393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被看見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64208" y="37307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837944" y="3529584"/>
            <a:ext cx="969264" cy="658368"/>
          </a:xfrm>
          <a:prstGeom prst="roundRect">
            <a:avLst>
              <a:gd name="adj" fmla="val 11111"/>
            </a:avLst>
          </a:prstGeom>
          <a:solidFill>
            <a:srgbClr val="E7F2F1"/>
          </a:solidFill>
          <a:ln w="12700">
            <a:solidFill>
              <a:srgbClr val="BFD9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11096" y="36393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11096" y="3886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被共用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843784" y="37307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017520" y="3529584"/>
            <a:ext cx="969264" cy="658368"/>
          </a:xfrm>
          <a:prstGeom prst="roundRect">
            <a:avLst>
              <a:gd name="adj" fmla="val 11111"/>
            </a:avLst>
          </a:prstGeom>
          <a:solidFill>
            <a:srgbClr val="F7EFEA"/>
          </a:solidFill>
          <a:ln w="12700">
            <a:solidFill>
              <a:srgbClr val="E5CF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0672" y="36393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衰退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090672" y="3886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被說過氣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0" y="373075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197096" y="3529584"/>
            <a:ext cx="969264" cy="658368"/>
          </a:xfrm>
          <a:prstGeom prst="roundRect">
            <a:avLst>
              <a:gd name="adj" fmla="val 11111"/>
            </a:avLst>
          </a:prstGeom>
          <a:solidFill>
            <a:srgbClr val="F7EFEA"/>
          </a:solidFill>
          <a:ln w="12700">
            <a:solidFill>
              <a:srgbClr val="E5CF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0248" y="36393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死語化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70248" y="38862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需要解釋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8368" y="45902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核心觀點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4910328"/>
            <a:ext cx="4800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流行語的生命週期，是來源、語境與社群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共同推動的變化過程。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46520" y="2606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本報告模型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37376" y="2971800"/>
            <a:ext cx="4983480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37376" y="2971800"/>
            <a:ext cx="4983480" cy="384048"/>
          </a:xfrm>
          <a:prstGeom prst="rect">
            <a:avLst/>
          </a:prstGeom>
          <a:solidFill>
            <a:srgbClr val="EDF2F7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74536" y="307238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關鍵因素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0456" y="3072384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作用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83296" y="2971800"/>
            <a:ext cx="0" cy="2432304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37376" y="3355848"/>
            <a:ext cx="4983480" cy="512064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74536" y="3474720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20456" y="3474720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決定爆紅起點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083296" y="2971800"/>
            <a:ext cx="0" cy="2432304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37376" y="3867912"/>
            <a:ext cx="4983480" cy="512064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74536" y="398678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語境依賴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20456" y="3986784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決定是否容易過時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083296" y="2971800"/>
            <a:ext cx="0" cy="2432304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37376" y="4379976"/>
            <a:ext cx="4983480" cy="512064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74536" y="4498848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二創能力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220456" y="4498848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決定是否進入成熟期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083296" y="2971800"/>
            <a:ext cx="0" cy="2432304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37376" y="4892040"/>
            <a:ext cx="4983480" cy="512064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74536" y="5010912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社群與環境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220456" y="5010912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決定是否被接續使用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083296" y="2971800"/>
            <a:ext cx="0" cy="2432304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6016752"/>
            <a:ext cx="10927080" cy="0"/>
          </a:xfrm>
          <a:prstGeom prst="line">
            <a:avLst/>
          </a:prstGeom>
          <a:noFill/>
          <a:ln w="13335">
            <a:solidFill>
              <a:srgbClr val="D8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" y="619963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口頭補充：本報告不是做流行語字典，而是看流行語如何經歷「上升、成熟、衰退、死語化」。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6F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來源分類：流行語從哪裡來，會影響它活多久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716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事件型與情緒表達型，是本報告最重要的兩種來源。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83664"/>
            <a:ext cx="10927080" cy="0"/>
          </a:xfrm>
          <a:prstGeom prst="line">
            <a:avLst/>
          </a:prstGeom>
          <a:noFill/>
          <a:ln w="13335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212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最重要的兩種來源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2578608"/>
            <a:ext cx="1056132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578608"/>
            <a:ext cx="10561320" cy="384048"/>
          </a:xfrm>
          <a:prstGeom prst="rect">
            <a:avLst/>
          </a:prstGeom>
          <a:solidFill>
            <a:srgbClr val="EDF2F7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679192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類型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12848" y="267919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特徵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75688" y="2578608"/>
            <a:ext cx="0" cy="208483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96328" y="2679192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生命週期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59168" y="2578608"/>
            <a:ext cx="0" cy="208483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962656"/>
            <a:ext cx="105613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081528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事件型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2212848" y="3081528"/>
            <a:ext cx="4764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來自新聞、影片名場面、網路事件、人物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2075688" y="2578608"/>
            <a:ext cx="0" cy="208483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96328" y="3081528"/>
            <a:ext cx="3941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爆紅快，也退燒快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7059168" y="2578608"/>
            <a:ext cx="0" cy="208483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529584"/>
            <a:ext cx="105613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3648456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情緒表達型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2212848" y="3648456"/>
            <a:ext cx="4764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表達尷尬、崩潰、嘲諷、無奈、驚訝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2075688" y="2578608"/>
            <a:ext cx="0" cy="208483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96328" y="3648456"/>
            <a:ext cx="3941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較容易進入日常使用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7059168" y="2578608"/>
            <a:ext cx="0" cy="208483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4096512"/>
            <a:ext cx="10561320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" y="4215384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其他來源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2212848" y="4215384"/>
            <a:ext cx="4764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平台型、圈層型、語音／諧音型、二創型</a:t>
            </a:r>
            <a:endParaRPr lang="en-US" sz="1420" dirty="0"/>
          </a:p>
        </p:txBody>
      </p:sp>
      <p:sp>
        <p:nvSpPr>
          <p:cNvPr id="29" name="Shape 27"/>
          <p:cNvSpPr/>
          <p:nvPr/>
        </p:nvSpPr>
        <p:spPr>
          <a:xfrm>
            <a:off x="2075688" y="2578608"/>
            <a:ext cx="0" cy="208483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96328" y="4215384"/>
            <a:ext cx="3941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影響傳播速度與使用範圍</a:t>
            </a:r>
            <a:endParaRPr lang="en-US" sz="1420" dirty="0"/>
          </a:p>
        </p:txBody>
      </p:sp>
      <p:sp>
        <p:nvSpPr>
          <p:cNvPr id="31" name="Shape 29"/>
          <p:cNvSpPr/>
          <p:nvPr/>
        </p:nvSpPr>
        <p:spPr>
          <a:xfrm>
            <a:off x="7059168" y="2578608"/>
            <a:ext cx="0" cy="208483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4956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關鍵判斷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" y="5321808"/>
            <a:ext cx="571500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" y="5321808"/>
            <a:ext cx="5715000" cy="310896"/>
          </a:xfrm>
          <a:prstGeom prst="rect">
            <a:avLst/>
          </a:prstGeom>
          <a:solidFill>
            <a:srgbClr val="EDF2F7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" y="5422392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218688" y="5422392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意義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081528" y="5321808"/>
            <a:ext cx="0" cy="1133856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" y="5632704"/>
            <a:ext cx="57150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" y="5751576"/>
            <a:ext cx="2203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是否依賴特定事件？</a:t>
            </a:r>
            <a:endParaRPr lang="en-US" sz="1280" dirty="0"/>
          </a:p>
        </p:txBody>
      </p:sp>
      <p:sp>
        <p:nvSpPr>
          <p:cNvPr id="40" name="Text 38"/>
          <p:cNvSpPr/>
          <p:nvPr/>
        </p:nvSpPr>
        <p:spPr>
          <a:xfrm>
            <a:off x="3218688" y="5751576"/>
            <a:ext cx="3072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越依賴，越容易死語化</a:t>
            </a:r>
            <a:endParaRPr lang="en-US" sz="1280" dirty="0"/>
          </a:p>
        </p:txBody>
      </p:sp>
      <p:sp>
        <p:nvSpPr>
          <p:cNvPr id="41" name="Shape 39"/>
          <p:cNvSpPr/>
          <p:nvPr/>
        </p:nvSpPr>
        <p:spPr>
          <a:xfrm>
            <a:off x="3081528" y="5321808"/>
            <a:ext cx="0" cy="1133856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368" y="6044184"/>
            <a:ext cx="5715000" cy="411480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5528" y="6163056"/>
            <a:ext cx="2203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是否能表達普遍情緒？</a:t>
            </a:r>
            <a:endParaRPr lang="en-US" sz="1280" dirty="0"/>
          </a:p>
        </p:txBody>
      </p:sp>
      <p:sp>
        <p:nvSpPr>
          <p:cNvPr id="44" name="Text 42"/>
          <p:cNvSpPr/>
          <p:nvPr/>
        </p:nvSpPr>
        <p:spPr>
          <a:xfrm>
            <a:off x="3218688" y="6163056"/>
            <a:ext cx="3072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越能表達日常情緒，越容易留下</a:t>
            </a:r>
            <a:endParaRPr lang="en-US" sz="1280" dirty="0"/>
          </a:p>
        </p:txBody>
      </p:sp>
      <p:sp>
        <p:nvSpPr>
          <p:cNvPr id="45" name="Shape 43"/>
          <p:cNvSpPr/>
          <p:nvPr/>
        </p:nvSpPr>
        <p:spPr>
          <a:xfrm>
            <a:off x="3081528" y="5321808"/>
            <a:ext cx="0" cy="1133856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20840" y="537667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小結：流行語的來源會決定它的起點，語境依賴程度會影響它的壽命。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640080" y="6016752"/>
            <a:ext cx="10927080" cy="0"/>
          </a:xfrm>
          <a:prstGeom prst="line">
            <a:avLst/>
          </a:prstGeom>
          <a:noFill/>
          <a:ln w="13335">
            <a:solidFill>
              <a:srgbClr val="D8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" y="619963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口頭補充：事件型靠共同記憶活著，情緒型靠日常情緒續命。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6F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四個輔助分析層次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716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四個層次用來解釋流行語如何誕生、傳播、被理解與被日常使用。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83664"/>
            <a:ext cx="10927080" cy="0"/>
          </a:xfrm>
          <a:prstGeom prst="line">
            <a:avLst/>
          </a:prstGeom>
          <a:noFill/>
          <a:ln w="13335">
            <a:solidFill>
              <a:srgbClr val="D8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267712"/>
            <a:ext cx="1086307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267712"/>
            <a:ext cx="10863072" cy="384048"/>
          </a:xfrm>
          <a:prstGeom prst="rect">
            <a:avLst/>
          </a:prstGeom>
          <a:solidFill>
            <a:srgbClr val="EDF2F7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36829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層次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24328" y="2368296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決定什麼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87168" y="2267712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33288" y="2368296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例子方向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596128" y="2267712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651760"/>
            <a:ext cx="10863072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770632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構詞來源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24328" y="2770632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初始爆紅方式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487168" y="2267712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33288" y="2770632"/>
            <a:ext cx="570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事件、平台、輸入習慣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596128" y="2267712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218688"/>
            <a:ext cx="10863072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33756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詞語結構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24328" y="333756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傳播效率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487168" y="2267712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33288" y="3337560"/>
            <a:ext cx="570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擬音、英數混合、短語模板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596128" y="2267712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785616"/>
            <a:ext cx="10863072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390448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語意指涉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624328" y="390448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語境依賴程度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487168" y="2267712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33288" y="3904488"/>
            <a:ext cx="570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事件、情緒、評價、圈層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596128" y="2267712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4352544"/>
            <a:ext cx="10863072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" y="4471416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語用功能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624328" y="4471416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是否能日常使用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487168" y="2267712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33288" y="4471416"/>
            <a:ext cx="570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吐槽、接梗、表態、共鳴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596128" y="2267712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54406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小結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49808" y="5806440"/>
            <a:ext cx="82296" cy="82296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7424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它怎麼紅？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49808" y="6053328"/>
            <a:ext cx="82296" cy="82296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98932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它為什麼好傳？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49808" y="6300216"/>
            <a:ext cx="82296" cy="82296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623620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它離開語境後還能不能懂？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49808" y="6547104"/>
            <a:ext cx="82296" cy="82296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648309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它能不能變成日常互動工具？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0080" y="6016752"/>
            <a:ext cx="10927080" cy="0"/>
          </a:xfrm>
          <a:prstGeom prst="line">
            <a:avLst/>
          </a:prstGeom>
          <a:noFill/>
          <a:ln w="13335">
            <a:solidFill>
              <a:srgbClr val="D8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" y="619963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口頭補充：最重要的是語意指涉和語用功能，因為它們直接關係到流行語能不能續命。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6F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生命週期模型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716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本文將流行語的盛衰分成四個階段。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83664"/>
            <a:ext cx="10927080" cy="0"/>
          </a:xfrm>
          <a:prstGeom prst="line">
            <a:avLst/>
          </a:prstGeom>
          <a:noFill/>
          <a:ln w="13335">
            <a:solidFill>
              <a:srgbClr val="D8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240280"/>
            <a:ext cx="1086307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240280"/>
            <a:ext cx="10863072" cy="384048"/>
          </a:xfrm>
          <a:prstGeom prst="rect">
            <a:avLst/>
          </a:prstGeom>
          <a:solidFill>
            <a:srgbClr val="EDF2F7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34086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24328" y="2340864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特徵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87168" y="2240280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2340864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可觀察指標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44768" y="2240280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624328"/>
            <a:ext cx="10863072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7432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24328" y="2743200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被事件或語境帶起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487168" y="2240280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2743200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搜尋量、貼文數增加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44768" y="2240280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191256"/>
            <a:ext cx="10863072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31012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成熟期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24328" y="3310128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大量使用、改寫、二創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487168" y="2240280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3310128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變體、梗圖、短影音增加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44768" y="2240280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758184"/>
            <a:ext cx="10863072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3877056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衰退期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624328" y="3877056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使用下降、被說過氣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487168" y="2240280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1928" y="3877056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出現老梗、過氣討論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144768" y="2240280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4325112"/>
            <a:ext cx="10863072" cy="566928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" y="444398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死語期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624328" y="4443984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只剩回顧或解釋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487168" y="2240280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1928" y="4443984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新使用者需要被解釋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144768" y="2240280"/>
            <a:ext cx="0" cy="26517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" y="53218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成熟期判準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4944" y="56327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6F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二創能力 = 是否成熟的重要指標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800600" y="54406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流行語不是被看見就成熟，而是要被群體拿來共同使用、改寫與模仿。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40080" y="6016752"/>
            <a:ext cx="10927080" cy="0"/>
          </a:xfrm>
          <a:prstGeom prst="line">
            <a:avLst/>
          </a:prstGeom>
          <a:noFill/>
          <a:ln w="13335">
            <a:solidFill>
              <a:srgbClr val="D8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619963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口頭補充：成熟期的重點不是單純很紅，而是大家能不能把它拿去玩、拿去改、拿去套用。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6F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5 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線上社群理論輔證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716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文獻：“User Lifecycle and Linguistic Change in Online Communities”。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83664"/>
            <a:ext cx="10927080" cy="0"/>
          </a:xfrm>
          <a:prstGeom prst="line">
            <a:avLst/>
          </a:prstGeom>
          <a:noFill/>
          <a:ln w="13335">
            <a:solidFill>
              <a:srgbClr val="D8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148840"/>
            <a:ext cx="10863072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148840"/>
            <a:ext cx="10863072" cy="384048"/>
          </a:xfrm>
          <a:prstGeom prst="rect">
            <a:avLst/>
          </a:prstGeom>
          <a:solidFill>
            <a:srgbClr val="EDF2F7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24942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本文階段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50008" y="224942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論文概念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12848" y="2148840"/>
            <a:ext cx="0" cy="272491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27648" y="2249424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0488" y="2148840"/>
            <a:ext cx="0" cy="272491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532888"/>
            <a:ext cx="10863072" cy="58521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651760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上升期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350008" y="2651760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Linguistic innovation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2212848" y="2148840"/>
            <a:ext cx="0" cy="272491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2651760"/>
            <a:ext cx="5111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小群體先帶入新用法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90488" y="2148840"/>
            <a:ext cx="0" cy="272491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118104"/>
            <a:ext cx="10863072" cy="58521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236976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成熟期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350008" y="3236976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Community norm / Conforming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2212848" y="2148840"/>
            <a:ext cx="0" cy="272491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3236976"/>
            <a:ext cx="5111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成員跟著用，變成社群規範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190488" y="2148840"/>
            <a:ext cx="0" cy="272491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703320"/>
            <a:ext cx="10863072" cy="58521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3822192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衰退期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2350008" y="3822192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Linguistic adolescence 後的距離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2212848" y="2148840"/>
            <a:ext cx="0" cy="272491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3822192"/>
            <a:ext cx="5111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社群語言繼續變，舊詞停住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190488" y="2148840"/>
            <a:ext cx="0" cy="272491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4288536"/>
            <a:ext cx="10863072" cy="585216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" y="4407408"/>
            <a:ext cx="1335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死語期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2350008" y="4407408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Conservative phase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2212848" y="2148840"/>
            <a:ext cx="0" cy="272491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4407408"/>
            <a:ext cx="5111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舊使用者保存，新使用者不自然採用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190488" y="2148840"/>
            <a:ext cx="0" cy="272491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53949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關鍵句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3232" y="56875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線上社群的語言會隨使用者加入、離開與互動而改變。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40080" y="6016752"/>
            <a:ext cx="10927080" cy="0"/>
          </a:xfrm>
          <a:prstGeom prst="line">
            <a:avLst/>
          </a:prstGeom>
          <a:noFill/>
          <a:ln w="13335">
            <a:solidFill>
              <a:srgbClr val="D8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619963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口頭補充：這篇文獻支撐的是「流行語成熟不是個人使用，而是群體接受」。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6F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6 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社會與平台環境因素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716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理論來源：William Labov, Principles of Linguistic Change: Social Factors。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83664"/>
            <a:ext cx="10927080" cy="0"/>
          </a:xfrm>
          <a:prstGeom prst="line">
            <a:avLst/>
          </a:prstGeom>
          <a:noFill/>
          <a:ln w="13335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5798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流行語的盛衰不只是詞語本身的問題，也受到使用者、平台與身份認同影響。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8163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影響因素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3154680"/>
            <a:ext cx="5166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3154680"/>
            <a:ext cx="5166360" cy="384048"/>
          </a:xfrm>
          <a:prstGeom prst="rect">
            <a:avLst/>
          </a:prstGeom>
          <a:solidFill>
            <a:srgbClr val="EDF2F7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255264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因素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12848" y="3255264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075688" y="3154680"/>
            <a:ext cx="0" cy="21945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538728"/>
            <a:ext cx="516636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657600"/>
            <a:ext cx="1197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使用者世代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2212848" y="3657600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小圈層推動流行；新世代不接續就衰退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2075688" y="3154680"/>
            <a:ext cx="0" cy="21945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4142232"/>
            <a:ext cx="516636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4261104"/>
            <a:ext cx="1197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平台環境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2212848" y="4261104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短影音爆紅快、退燒快；論壇較容易累積文字梗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2075688" y="3154680"/>
            <a:ext cx="0" cy="21945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4745736"/>
            <a:ext cx="516636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4864608"/>
            <a:ext cx="1197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身分認同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2212848" y="4864608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懂梗代表圈內身份；過度大眾化會失去酷感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2075688" y="3154680"/>
            <a:ext cx="0" cy="21945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28163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轉折解釋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82512" y="3154680"/>
            <a:ext cx="4800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82512" y="3154680"/>
            <a:ext cx="4800600" cy="384048"/>
          </a:xfrm>
          <a:prstGeom prst="rect">
            <a:avLst/>
          </a:prstGeom>
          <a:solidFill>
            <a:srgbClr val="EDF2F7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9672" y="325526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轉折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74152" y="3255264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可能原因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36992" y="3154680"/>
            <a:ext cx="0" cy="21945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82512" y="3538728"/>
            <a:ext cx="480060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9672" y="3657600"/>
            <a:ext cx="1335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上升到成熟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8074152" y="3657600"/>
            <a:ext cx="30266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使用者擴大、群體模仿</a:t>
            </a:r>
            <a:endParaRPr lang="en-US" sz="1320" dirty="0"/>
          </a:p>
        </p:txBody>
      </p:sp>
      <p:sp>
        <p:nvSpPr>
          <p:cNvPr id="34" name="Shape 32"/>
          <p:cNvSpPr/>
          <p:nvPr/>
        </p:nvSpPr>
        <p:spPr>
          <a:xfrm>
            <a:off x="7936992" y="3154680"/>
            <a:ext cx="0" cy="21945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512" y="4142232"/>
            <a:ext cx="480060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9672" y="4261104"/>
            <a:ext cx="1335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成熟到衰退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8074152" y="4261104"/>
            <a:ext cx="30266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過度大眾化、平台風向轉移</a:t>
            </a:r>
            <a:endParaRPr lang="en-US" sz="1320" dirty="0"/>
          </a:p>
        </p:txBody>
      </p:sp>
      <p:sp>
        <p:nvSpPr>
          <p:cNvPr id="38" name="Shape 36"/>
          <p:cNvSpPr/>
          <p:nvPr/>
        </p:nvSpPr>
        <p:spPr>
          <a:xfrm>
            <a:off x="7936992" y="3154680"/>
            <a:ext cx="0" cy="21945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82512" y="4745736"/>
            <a:ext cx="480060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9672" y="4864608"/>
            <a:ext cx="1335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衰退到死語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8074152" y="4864608"/>
            <a:ext cx="30266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新世代不接續、語境消失</a:t>
            </a:r>
            <a:endParaRPr lang="en-US" sz="1320" dirty="0"/>
          </a:p>
        </p:txBody>
      </p:sp>
      <p:sp>
        <p:nvSpPr>
          <p:cNvPr id="42" name="Shape 40"/>
          <p:cNvSpPr/>
          <p:nvPr/>
        </p:nvSpPr>
        <p:spPr>
          <a:xfrm>
            <a:off x="7936992" y="3154680"/>
            <a:ext cx="0" cy="2194560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6016752"/>
            <a:ext cx="10927080" cy="0"/>
          </a:xfrm>
          <a:prstGeom prst="line">
            <a:avLst/>
          </a:prstGeom>
          <a:noFill/>
          <a:ln w="13335">
            <a:solidFill>
              <a:srgbClr val="D8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619963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口頭補充：一個詞變過氣，有時不是詞不好，而是社群換了一套語言。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6F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7 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模型小結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716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把來源、語境、二創與退燒放在同一個生命週期中理解。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83664"/>
            <a:ext cx="10927080" cy="0"/>
          </a:xfrm>
          <a:prstGeom prst="line">
            <a:avLst/>
          </a:prstGeom>
          <a:noFill/>
          <a:ln w="13335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12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來源-語境-二創-退燒模型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2578608"/>
            <a:ext cx="5166360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578608"/>
            <a:ext cx="5166360" cy="384048"/>
          </a:xfrm>
          <a:prstGeom prst="rect">
            <a:avLst/>
          </a:prstGeom>
          <a:solidFill>
            <a:srgbClr val="EDF2F7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679192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121408" y="267919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關鍵問題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984248" y="2578608"/>
            <a:ext cx="0" cy="2505456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62656"/>
            <a:ext cx="516636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3081528"/>
            <a:ext cx="1106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21408" y="308152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它從哪裡來？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984248" y="2578608"/>
            <a:ext cx="0" cy="2505456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493008"/>
            <a:ext cx="516636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611880"/>
            <a:ext cx="1106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21408" y="3611880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它是否依賴特定事件？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984248" y="2578608"/>
            <a:ext cx="0" cy="2505456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023360"/>
            <a:ext cx="516636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142232"/>
            <a:ext cx="1106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21408" y="4142232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它是否能被改寫、模仿、套用？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984248" y="2578608"/>
            <a:ext cx="0" cy="2505456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4553712"/>
            <a:ext cx="516636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4672584"/>
            <a:ext cx="1106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121408" y="4672584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新使用者是否還自然使用？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984248" y="2578608"/>
            <a:ext cx="0" cy="2505456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212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本文主張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257860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流行語的生命週期可以看成社群規範變化的過程：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382512" y="3246120"/>
            <a:ext cx="48006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82512" y="3246120"/>
            <a:ext cx="4800600" cy="384048"/>
          </a:xfrm>
          <a:prstGeom prst="rect">
            <a:avLst/>
          </a:prstGeom>
          <a:solidFill>
            <a:srgbClr val="EDF2F7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9672" y="3346704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851392" y="334670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意義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714232" y="3246120"/>
            <a:ext cx="0" cy="162763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82512" y="3630168"/>
            <a:ext cx="480060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9672" y="3749040"/>
            <a:ext cx="211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被群體吸收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851392" y="3749040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進入成熟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714232" y="3246120"/>
            <a:ext cx="0" cy="162763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82512" y="4251960"/>
            <a:ext cx="4800600" cy="6217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9672" y="4370832"/>
            <a:ext cx="211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不再被新成員自然使用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851392" y="4370832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開始死語化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714232" y="3246120"/>
            <a:ext cx="0" cy="162763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54406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6F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社群往前走了，但某個詞停在原地，它就開始變老。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640080" y="6016752"/>
            <a:ext cx="10927080" cy="0"/>
          </a:xfrm>
          <a:prstGeom prst="line">
            <a:avLst/>
          </a:prstGeom>
          <a:noFill/>
          <a:ln w="13335">
            <a:solidFill>
              <a:srgbClr val="D8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619963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口頭補充：這頁可以把分類、理論、環境因素全部接回生命週期。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6F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8 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結論與核心文獻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7160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用兩種來源差異，收束整個生命週期模型。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83664"/>
            <a:ext cx="10927080" cy="0"/>
          </a:xfrm>
          <a:prstGeom prst="line">
            <a:avLst/>
          </a:prstGeom>
          <a:noFill/>
          <a:ln w="13335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488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2514600"/>
            <a:ext cx="48920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514600"/>
            <a:ext cx="4892040" cy="384048"/>
          </a:xfrm>
          <a:prstGeom prst="rect">
            <a:avLst/>
          </a:prstGeom>
          <a:solidFill>
            <a:srgbClr val="EDF2F7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61518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類型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15768" y="2615184"/>
            <a:ext cx="2752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78608" y="2514600"/>
            <a:ext cx="0" cy="1591056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898648"/>
            <a:ext cx="489204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3017520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事件型流行語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2715768" y="3017520"/>
            <a:ext cx="2752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依賴共同記憶，容易快速死亡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2578608" y="2514600"/>
            <a:ext cx="0" cy="1591056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502152"/>
            <a:ext cx="4892040" cy="603504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621024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情緒表達型流行語</a:t>
            </a:r>
            <a:endParaRPr lang="en-US" sz="1340" dirty="0"/>
          </a:p>
        </p:txBody>
      </p:sp>
      <p:sp>
        <p:nvSpPr>
          <p:cNvPr id="18" name="Text 16"/>
          <p:cNvSpPr/>
          <p:nvPr/>
        </p:nvSpPr>
        <p:spPr>
          <a:xfrm>
            <a:off x="2715768" y="3621024"/>
            <a:ext cx="2752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可進入日常情緒表達，較容易留下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2578608" y="2514600"/>
            <a:ext cx="0" cy="1591056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1488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核心觀點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5146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流行語的死亡，不只是因為大家不再使用它，而是支撐它的語境、情緒共鳴、社群規範與二創活動逐漸消失。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85800" y="42245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核心文獻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" y="4572000"/>
            <a:ext cx="1086307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4572000"/>
            <a:ext cx="10863072" cy="310896"/>
          </a:xfrm>
          <a:prstGeom prst="rect">
            <a:avLst/>
          </a:prstGeom>
          <a:solidFill>
            <a:srgbClr val="EDF2F7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4672584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550408" y="4672584"/>
            <a:ext cx="5888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本文參考用途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13248" y="4572000"/>
            <a:ext cx="0" cy="162763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" y="4882896"/>
            <a:ext cx="10863072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5001768"/>
            <a:ext cx="4535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《華語流行語的使用分析與教學建議》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5550408" y="5001768"/>
            <a:ext cx="5888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流行語來源、結構、語意、語用分類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5413248" y="4572000"/>
            <a:ext cx="0" cy="162763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" y="5321808"/>
            <a:ext cx="10863072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" y="5440680"/>
            <a:ext cx="4535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Lifecycle and Linguistic Change in Online Communities</a:t>
            </a:r>
            <a:endParaRPr lang="en-US" sz="1180" dirty="0"/>
          </a:p>
        </p:txBody>
      </p:sp>
      <p:sp>
        <p:nvSpPr>
          <p:cNvPr id="34" name="Text 32"/>
          <p:cNvSpPr/>
          <p:nvPr/>
        </p:nvSpPr>
        <p:spPr>
          <a:xfrm>
            <a:off x="5550408" y="5440680"/>
            <a:ext cx="5888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線上社群語言規範與使用者生命週期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5413248" y="4572000"/>
            <a:ext cx="0" cy="162763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" y="5760720"/>
            <a:ext cx="10863072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" y="5879592"/>
            <a:ext cx="4535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Labov, Principles of Linguistic Change: Social Factors</a:t>
            </a:r>
            <a:endParaRPr lang="en-US" sz="1180" dirty="0"/>
          </a:p>
        </p:txBody>
      </p:sp>
      <p:sp>
        <p:nvSpPr>
          <p:cNvPr id="38" name="Text 36"/>
          <p:cNvSpPr/>
          <p:nvPr/>
        </p:nvSpPr>
        <p:spPr>
          <a:xfrm>
            <a:off x="5550408" y="5879592"/>
            <a:ext cx="5888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社會因素、世代、身份認同對語言變化的影響</a:t>
            </a:r>
            <a:endParaRPr lang="en-US" sz="1180" dirty="0"/>
          </a:p>
        </p:txBody>
      </p:sp>
      <p:sp>
        <p:nvSpPr>
          <p:cNvPr id="39" name="Shape 37"/>
          <p:cNvSpPr/>
          <p:nvPr/>
        </p:nvSpPr>
        <p:spPr>
          <a:xfrm>
            <a:off x="5413248" y="4572000"/>
            <a:ext cx="0" cy="1627632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6016752"/>
            <a:ext cx="10927080" cy="0"/>
          </a:xfrm>
          <a:prstGeom prst="line">
            <a:avLst/>
          </a:prstGeom>
          <a:noFill/>
          <a:ln w="13335">
            <a:solidFill>
              <a:srgbClr val="D8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619963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口頭補充：本報告把流行語視為社群互動與社會環境共同推動的語言生命週期。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核通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流行語死語化八頁簡報</dc:title>
  <dc:subject>流行語死語化研究架構</dc:subject>
  <dc:creator>Codex</dc:creator>
  <cp:lastModifiedBy>Codex</cp:lastModifiedBy>
  <cp:revision>1</cp:revision>
  <dcterms:created xsi:type="dcterms:W3CDTF">2026-05-08T16:28:40Z</dcterms:created>
  <dcterms:modified xsi:type="dcterms:W3CDTF">2026-05-08T16:28:40Z</dcterms:modified>
</cp:coreProperties>
</file>